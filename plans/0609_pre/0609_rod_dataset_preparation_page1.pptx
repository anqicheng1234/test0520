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jpg"/><Relationship Id="rId9" Type="http://schemas.openxmlformats.org/officeDocument/2006/relationships/image" Target="../media/image8.png"/><Relationship Id="rId10" Type="http://schemas.openxmlformats.org/officeDocument/2006/relationships/image" Target="../media/image9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Relationship Id="rId6" Type="http://schemas.openxmlformats.org/officeDocument/2006/relationships/image" Target="../media/image1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7955279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050" b="1">
                <a:solidFill>
                  <a:srgbClr val="1C232D"/>
                </a:solidFill>
                <a:latin typeface="Noto Sans CJK SC"/>
              </a:rPr>
              <a:t>LOD 数据展示：normal / dark × RGB / RAW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256032"/>
            <a:ext cx="2971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Noto Sans CJK SC"/>
              </a:rPr>
              <a:t>阶段性汇报 · 2026-06-09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731520"/>
            <a:ext cx="2743200" cy="15727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68680"/>
            <a:ext cx="2450592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20" b="1">
                <a:solidFill>
                  <a:srgbClr val="2563EB"/>
                </a:solidFill>
                <a:latin typeface="Noto Sans CJK SC"/>
              </a:rPr>
              <a:t>数据本体：四个目录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43000"/>
            <a:ext cx="2450592" cy="932688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200"/>
              </a:spcAft>
            </a:pPr>
            <a:r>
              <a:rPr sz="755" b="0">
                <a:solidFill>
                  <a:srgbClr val="374151"/>
                </a:solidFill>
                <a:latin typeface="Noto Sans CJK SC"/>
              </a:rPr>
              <a:t>• `RGB_normal/`：正常曝光 JPG</a:t>
            </a:r>
          </a:p>
          <a:p>
            <a:pPr>
              <a:spcAft>
                <a:spcPts val="200"/>
              </a:spcAft>
            </a:pPr>
            <a:r>
              <a:rPr sz="755" b="0">
                <a:solidFill>
                  <a:srgbClr val="374151"/>
                </a:solidFill>
                <a:latin typeface="Noto Sans CJK SC"/>
              </a:rPr>
              <a:t>• `RGB_Dark/`：低光 JPG</a:t>
            </a:r>
          </a:p>
          <a:p>
            <a:pPr>
              <a:spcAft>
                <a:spcPts val="200"/>
              </a:spcAft>
            </a:pPr>
            <a:r>
              <a:rPr sz="755" b="0">
                <a:solidFill>
                  <a:srgbClr val="374151"/>
                </a:solidFill>
                <a:latin typeface="Noto Sans CJK SC"/>
              </a:rPr>
              <a:t>• `RAW_normal/`：正常曝光 RAW PNG</a:t>
            </a:r>
          </a:p>
          <a:p>
            <a:pPr>
              <a:spcAft>
                <a:spcPts val="200"/>
              </a:spcAft>
            </a:pPr>
            <a:r>
              <a:rPr sz="755" b="0">
                <a:solidFill>
                  <a:srgbClr val="374151"/>
                </a:solidFill>
                <a:latin typeface="Noto Sans CJK SC"/>
              </a:rPr>
              <a:t>• `RAW_Dark/`：低光 RAW PNG</a:t>
            </a:r>
          </a:p>
          <a:p>
            <a:pPr>
              <a:spcAft>
                <a:spcPts val="200"/>
              </a:spcAft>
            </a:pPr>
            <a:r>
              <a:rPr sz="755" b="0">
                <a:solidFill>
                  <a:srgbClr val="374151"/>
                </a:solidFill>
                <a:latin typeface="Noto Sans CJK SC"/>
              </a:rPr>
              <a:t>• 每个 pair：normal_id 与 dark_id 成对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523744"/>
            <a:ext cx="27432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660904"/>
            <a:ext cx="2450592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Noto Sans CJK SC"/>
              </a:rPr>
              <a:t>RAW 物理格式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2916936"/>
            <a:ext cx="2450592" cy="603504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200"/>
              </a:spcAft>
            </a:pPr>
            <a:r>
              <a:rPr sz="710" b="0">
                <a:solidFill>
                  <a:srgbClr val="374151"/>
                </a:solidFill>
                <a:latin typeface="Noto Sans CJK SC"/>
              </a:rPr>
              <a:t>• 3 通道 16-bit PNG，非 Bayer</a:t>
            </a:r>
          </a:p>
          <a:p>
            <a:pPr>
              <a:spcAft>
                <a:spcPts val="200"/>
              </a:spcAft>
            </a:pPr>
            <a:r>
              <a:rPr sz="710" b="0">
                <a:solidFill>
                  <a:srgbClr val="374151"/>
                </a:solidFill>
                <a:latin typeface="Noto Sans CJK SC"/>
              </a:rPr>
              <a:t>• OpenCV 读入 BGR，模型侧重排为 RGB</a:t>
            </a:r>
          </a:p>
          <a:p>
            <a:pPr>
              <a:spcAft>
                <a:spcPts val="200"/>
              </a:spcAft>
            </a:pPr>
            <a:r>
              <a:rPr sz="710" b="0">
                <a:solidFill>
                  <a:srgbClr val="374151"/>
                </a:solidFill>
                <a:latin typeface="Noto Sans CJK SC"/>
              </a:rPr>
              <a:t>• 训练归一化：uint16 / 65535</a:t>
            </a:r>
          </a:p>
          <a:p>
            <a:pPr>
              <a:spcAft>
                <a:spcPts val="200"/>
              </a:spcAft>
            </a:pPr>
            <a:r>
              <a:rPr sz="710" b="0">
                <a:solidFill>
                  <a:srgbClr val="374151"/>
                </a:solidFill>
                <a:latin typeface="Noto Sans CJK SC"/>
              </a:rPr>
              <a:t>• 本页 RGB/RAW 均做 p1/p99 拉伸可视化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3931920"/>
            <a:ext cx="2743200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078224"/>
            <a:ext cx="2450592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B45309"/>
                </a:solidFill>
                <a:latin typeface="Noto Sans CJK SC"/>
              </a:rPr>
              <a:t>当前训练用法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352544"/>
            <a:ext cx="2450592" cy="1225296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200"/>
              </a:spcAft>
            </a:pPr>
            <a:r>
              <a:rPr sz="715" b="0">
                <a:solidFill>
                  <a:srgbClr val="374151"/>
                </a:solidFill>
                <a:latin typeface="Noto Sans CJK SC"/>
              </a:rPr>
              <a:t>• teacher：RGB_normal → DAv2-L → 2D pseudo depth</a:t>
            </a:r>
          </a:p>
          <a:p>
            <a:pPr>
              <a:spcAft>
                <a:spcPts val="200"/>
              </a:spcAft>
            </a:pPr>
            <a:r>
              <a:rPr sz="715" b="0">
                <a:solidFill>
                  <a:srgbClr val="374151"/>
                </a:solidFill>
                <a:latin typeface="Noto Sans CJK SC"/>
              </a:rPr>
              <a:t>• RGB 线：RGB_Dark 作为 DAv2-S 输入</a:t>
            </a:r>
          </a:p>
          <a:p>
            <a:pPr>
              <a:spcAft>
                <a:spcPts val="200"/>
              </a:spcAft>
            </a:pPr>
            <a:r>
              <a:rPr sz="715" b="0">
                <a:solidFill>
                  <a:srgbClr val="374151"/>
                </a:solidFill>
                <a:latin typeface="Noto Sans CJK SC"/>
              </a:rPr>
              <a:t>• RAW 线：RAW_Dark 作为 RAW 前端输入</a:t>
            </a:r>
          </a:p>
          <a:p>
            <a:pPr>
              <a:spcAft>
                <a:spcPts val="200"/>
              </a:spcAft>
            </a:pPr>
            <a:r>
              <a:rPr sz="715" b="0">
                <a:solidFill>
                  <a:srgbClr val="374151"/>
                </a:solidFill>
                <a:latin typeface="Noto Sans CJK SC"/>
              </a:rPr>
              <a:t>• RAW_normal：只作为 normal/raw 对比参照</a:t>
            </a:r>
          </a:p>
          <a:p>
            <a:pPr>
              <a:spcAft>
                <a:spcPts val="200"/>
              </a:spcAft>
            </a:pPr>
            <a:r>
              <a:rPr sz="715" b="0">
                <a:solidFill>
                  <a:srgbClr val="374151"/>
                </a:solidFill>
                <a:latin typeface="Noto Sans CJK SC"/>
              </a:rPr>
              <a:t>• 公平主对比：同一 dark 场景下 RGB_Dark vs RAW_Dark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896112"/>
            <a:ext cx="2029968" cy="1856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969264"/>
            <a:ext cx="1847088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2563EB"/>
                </a:solidFill>
                <a:latin typeface="Noto Sans CJK SC"/>
              </a:rPr>
              <a:t>RGB_normal · P1/P99</a:t>
            </a:r>
          </a:p>
        </p:txBody>
      </p:sp>
      <p:pic>
        <p:nvPicPr>
          <p:cNvPr id="15" name="Picture 14" descr="lod_rgb_normal_t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1170432"/>
            <a:ext cx="1956816" cy="1133856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pic>
        <p:nvPicPr>
          <p:cNvPr id="16" name="Picture 15" descr="lod_0039_rgb_normal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359152"/>
            <a:ext cx="1883664" cy="329184"/>
          </a:xfrm>
          <a:prstGeom prst="rect">
            <a:avLst/>
          </a:prstGeom>
          <a:ln w="4445">
            <a:solidFill>
              <a:srgbClr val="E2E8F0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5632704" y="896112"/>
            <a:ext cx="2029968" cy="1856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24144" y="969264"/>
            <a:ext cx="1847088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0F766E"/>
                </a:solidFill>
                <a:latin typeface="Noto Sans CJK SC"/>
              </a:rPr>
              <a:t>RAW_normal · P1/P99</a:t>
            </a:r>
          </a:p>
        </p:txBody>
      </p:sp>
      <p:pic>
        <p:nvPicPr>
          <p:cNvPr id="19" name="Picture 18" descr="lod_raw_normal_ti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1170432"/>
            <a:ext cx="1956816" cy="1133856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pic>
        <p:nvPicPr>
          <p:cNvPr id="20" name="Picture 19" descr="lod_0039_raw_normal_hi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5856" y="2359152"/>
            <a:ext cx="1883664" cy="329184"/>
          </a:xfrm>
          <a:prstGeom prst="rect">
            <a:avLst/>
          </a:prstGeom>
          <a:ln w="4445">
            <a:solidFill>
              <a:srgbClr val="E2E8F0"/>
            </a:solidFill>
          </a:ln>
        </p:spPr>
      </p:pic>
      <p:sp>
        <p:nvSpPr>
          <p:cNvPr id="21" name="Rounded Rectangle 20"/>
          <p:cNvSpPr/>
          <p:nvPr/>
        </p:nvSpPr>
        <p:spPr>
          <a:xfrm>
            <a:off x="3401568" y="2889504"/>
            <a:ext cx="2029968" cy="1856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93008" y="2962656"/>
            <a:ext cx="1847088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B45309"/>
                </a:solidFill>
                <a:latin typeface="Noto Sans CJK SC"/>
              </a:rPr>
              <a:t>RGB_Dark · RGB 线输入</a:t>
            </a:r>
          </a:p>
        </p:txBody>
      </p:sp>
      <p:pic>
        <p:nvPicPr>
          <p:cNvPr id="23" name="Picture 22" descr="lod_rgb_dark_til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8144" y="3163824"/>
            <a:ext cx="1956816" cy="1133855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pic>
        <p:nvPicPr>
          <p:cNvPr id="24" name="Picture 23" descr="lod_0040_rgb_dark_his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4352543"/>
            <a:ext cx="1883664" cy="329184"/>
          </a:xfrm>
          <a:prstGeom prst="rect">
            <a:avLst/>
          </a:prstGeom>
          <a:ln w="4445">
            <a:solidFill>
              <a:srgbClr val="E2E8F0"/>
            </a:solidFill>
          </a:ln>
        </p:spPr>
      </p:pic>
      <p:sp>
        <p:nvSpPr>
          <p:cNvPr id="25" name="Rounded Rectangle 24"/>
          <p:cNvSpPr/>
          <p:nvPr/>
        </p:nvSpPr>
        <p:spPr>
          <a:xfrm>
            <a:off x="5632704" y="2889504"/>
            <a:ext cx="2029968" cy="18562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24144" y="2962656"/>
            <a:ext cx="1847088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1">
                <a:solidFill>
                  <a:srgbClr val="6D28D9"/>
                </a:solidFill>
                <a:latin typeface="Noto Sans CJK SC"/>
              </a:rPr>
              <a:t>RAW_Dark · RAW 线输入</a:t>
            </a:r>
          </a:p>
        </p:txBody>
      </p:sp>
      <p:pic>
        <p:nvPicPr>
          <p:cNvPr id="27" name="Picture 26" descr="lod_raw_dark_til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280" y="3163824"/>
            <a:ext cx="1956816" cy="1133855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pic>
        <p:nvPicPr>
          <p:cNvPr id="28" name="Picture 27" descr="lod_0040_raw_dark_his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05856" y="4352543"/>
            <a:ext cx="1883664" cy="329184"/>
          </a:xfrm>
          <a:prstGeom prst="rect">
            <a:avLst/>
          </a:prstGeom>
          <a:ln w="4445">
            <a:solidFill>
              <a:srgbClr val="E2E8F0"/>
            </a:solidFill>
          </a:ln>
        </p:spPr>
      </p:pic>
      <p:sp>
        <p:nvSpPr>
          <p:cNvPr id="29" name="TextBox 28"/>
          <p:cNvSpPr txBox="1"/>
          <p:nvPr/>
        </p:nvSpPr>
        <p:spPr>
          <a:xfrm>
            <a:off x="3401568" y="676656"/>
            <a:ext cx="4261104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40" b="0">
                <a:solidFill>
                  <a:srgbClr val="6B7280"/>
                </a:solidFill>
                <a:latin typeface="Noto Sans CJK SC"/>
              </a:rPr>
              <a:t>示例 pair：lod-0039-0040（normal=39, dark=40）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84464" y="896112"/>
            <a:ext cx="2926080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lod_pseudo_tile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21040" y="1170432"/>
            <a:ext cx="2852928" cy="1572768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32" name="TextBox 31"/>
          <p:cNvSpPr txBox="1"/>
          <p:nvPr/>
        </p:nvSpPr>
        <p:spPr>
          <a:xfrm>
            <a:off x="8375904" y="969264"/>
            <a:ext cx="274320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6D28D9"/>
                </a:solidFill>
                <a:latin typeface="Noto Sans CJK SC"/>
              </a:rPr>
              <a:t>DAv2-L pseudo depth · Spectral_r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84464" y="3108960"/>
            <a:ext cx="1353312" cy="694944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75904" y="3182112"/>
            <a:ext cx="1170432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6D28D9"/>
                </a:solidFill>
                <a:latin typeface="Noto Sans CJK SC"/>
              </a:rPr>
              <a:t>teacher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3429000"/>
            <a:ext cx="1170432" cy="31089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RGB_normal
DAv2-L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893808" y="3108960"/>
            <a:ext cx="1316736" cy="6949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85248" y="3182112"/>
            <a:ext cx="113385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6D28D9"/>
                </a:solidFill>
                <a:latin typeface="Noto Sans CJK SC"/>
              </a:rPr>
              <a:t>target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85248" y="3429000"/>
            <a:ext cx="1133856" cy="31089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inverse-relative
pseudo depth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37776" y="3456432"/>
            <a:ext cx="256032" cy="0"/>
          </a:xfrm>
          <a:prstGeom prst="line">
            <a:avLst/>
          </a:prstGeom>
          <a:ln w="1524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284464" y="4059936"/>
            <a:ext cx="1353312" cy="74980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75904" y="4133088"/>
            <a:ext cx="1170432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B45309"/>
                </a:solidFill>
                <a:latin typeface="Noto Sans CJK SC"/>
              </a:rPr>
              <a:t>RGB student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379976"/>
            <a:ext cx="1170432" cy="36575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RGB_Dark
DAv2-S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893808" y="4059936"/>
            <a:ext cx="1316736" cy="749808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85248" y="4133088"/>
            <a:ext cx="113385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0F766E"/>
                </a:solidFill>
                <a:latin typeface="Noto Sans CJK SC"/>
              </a:rPr>
              <a:t>RAW student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85248" y="4379976"/>
            <a:ext cx="1133856" cy="365759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RAW_Dark
RAW front-end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02752" y="4855464"/>
            <a:ext cx="285292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35" b="0">
                <a:solidFill>
                  <a:srgbClr val="374151"/>
                </a:solidFill>
                <a:latin typeface="Noto Sans CJK SC"/>
              </a:rPr>
              <a:t>两条 student 线共享同一 Spectral_r pseudo label；差别只在 dark 输入域。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01568" y="5102352"/>
            <a:ext cx="7808975" cy="804672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11880" y="5221224"/>
            <a:ext cx="73609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Noto Sans CJK SC"/>
              </a:rPr>
              <a:t>对比口径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611880" y="5449824"/>
            <a:ext cx="7351775" cy="34747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65" b="0">
                <a:solidFill>
                  <a:srgbClr val="374151"/>
                </a:solidFill>
                <a:latin typeface="Noto Sans CJK SC"/>
              </a:rPr>
              <a:t>主对比：RGB_Dark vs RAW_Dark
同一低光场景、同一 crop、同一 RGB_normal→DAv2-L pseudo GT。
RAW_normal 仅作为 normal/raw 可视化与诊断参照，不进入当前主线输入。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0624" y="6519672"/>
            <a:ext cx="113568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70" b="0">
                <a:solidFill>
                  <a:srgbClr val="6B7280"/>
                </a:solidFill>
                <a:latin typeface="Noto Sans CJK SC"/>
              </a:rPr>
              <a:t>代码依据：finetune_stf/dataset/lod_true.py；数据依据：/home/caq/6666_raw/0000_dataset/LOD/{RGB_normal,RGB_Dark,RAW_normal,RAW_Dark}/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d_0039_0040_brightness_noise_compare_c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371" y="182880"/>
            <a:ext cx="9292952" cy="6437376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786384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050" b="1">
                <a:solidFill>
                  <a:srgbClr val="1C232D"/>
                </a:solidFill>
                <a:latin typeface="Noto Sans CJK SC"/>
              </a:rPr>
              <a:t>ROD 数据集准备：RAW24 → student RGB / teacher RGB / pseudo GT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256032"/>
            <a:ext cx="2971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Noto Sans CJK SC"/>
              </a:rPr>
              <a:t>阶段性汇报 · 2026-06-09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731520"/>
            <a:ext cx="2743200" cy="18653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877824"/>
            <a:ext cx="2450592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20" b="1">
                <a:solidFill>
                  <a:srgbClr val="2563EB"/>
                </a:solidFill>
                <a:latin typeface="Noto Sans CJK SC"/>
              </a:rPr>
              <a:t>官方 RAW 数据格式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170432"/>
            <a:ext cx="2423160" cy="1216152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200"/>
              </a:spcAft>
            </a:pPr>
            <a:r>
              <a:rPr sz="810" b="0">
                <a:solidFill>
                  <a:srgbClr val="374151"/>
                </a:solidFill>
                <a:latin typeface="Noto Sans CJK SC"/>
              </a:rPr>
              <a:t>• 文件：`.raw` packed little-endian 24-bit</a:t>
            </a:r>
          </a:p>
          <a:p>
            <a:pPr>
              <a:spcAft>
                <a:spcPts val="200"/>
              </a:spcAft>
            </a:pPr>
            <a:r>
              <a:rPr sz="810" b="0">
                <a:solidFill>
                  <a:srgbClr val="374151"/>
                </a:solidFill>
                <a:latin typeface="Noto Sans CJK SC"/>
              </a:rPr>
              <a:t>• Bayer：true RGGB，1856×2880</a:t>
            </a:r>
          </a:p>
          <a:p>
            <a:pPr>
              <a:spcAft>
                <a:spcPts val="200"/>
              </a:spcAft>
            </a:pPr>
            <a:r>
              <a:rPr sz="810" b="0">
                <a:solidFill>
                  <a:srgbClr val="374151"/>
                </a:solidFill>
                <a:latin typeface="Noto Sans CJK SC"/>
              </a:rPr>
              <a:t>• 解包：b0 + 256·b1 + 65536·b2</a:t>
            </a:r>
          </a:p>
          <a:p>
            <a:pPr>
              <a:spcAft>
                <a:spcPts val="200"/>
              </a:spcAft>
            </a:pPr>
            <a:r>
              <a:rPr sz="810" b="0">
                <a:solidFill>
                  <a:srgbClr val="374151"/>
                </a:solidFill>
                <a:latin typeface="Noto Sans CJK SC"/>
              </a:rPr>
              <a:t>• 归一化：raw = raw24 / (2^24 - 1)</a:t>
            </a:r>
          </a:p>
          <a:p>
            <a:pPr>
              <a:spcAft>
                <a:spcPts val="200"/>
              </a:spcAft>
            </a:pPr>
            <a:r>
              <a:rPr sz="810" b="0">
                <a:solidFill>
                  <a:srgbClr val="374151"/>
                </a:solidFill>
                <a:latin typeface="Noto Sans CJK SC"/>
              </a:rPr>
              <a:t>• 训练尺寸：native 928×1440，crop 512×960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2761488"/>
            <a:ext cx="274320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2889504"/>
            <a:ext cx="2450592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Noto Sans CJK SC"/>
              </a:rPr>
              <a:t>核心转换公式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154680"/>
            <a:ext cx="2450592" cy="6217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374151"/>
                </a:solidFill>
                <a:latin typeface="Noto Sans CJK SC"/>
              </a:rPr>
              <a:t>raw = unpack24(.raw) / (2^24 - 1)
RAW4 = [R, Gr, Gb, B]
baseRGB = [R, (Gr+Gb)/2, B]
RGB8 = uint8(255 · x_gamma)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4096512"/>
            <a:ext cx="2743200" cy="1938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4224528"/>
            <a:ext cx="2450592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80" b="1">
                <a:solidFill>
                  <a:srgbClr val="B45309"/>
                </a:solidFill>
                <a:latin typeface="Noto Sans CJK SC"/>
              </a:rPr>
              <a:t>两条 RGB 渲染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480560"/>
            <a:ext cx="2423160" cy="1307592"/>
          </a:xfrm>
          <a:prstGeom prst="rect">
            <a:avLst/>
          </a:prstGeom>
          <a:noFill/>
        </p:spPr>
        <p:txBody>
          <a:bodyPr wrap="square" lIns="45720" rIns="45720" tIns="36576" bIns="18288">
            <a:spAutoFit/>
          </a:bodyPr>
          <a:lstStyle/>
          <a:p>
            <a:pPr>
              <a:spcAft>
                <a:spcPts val="200"/>
              </a:spcAft>
            </a:pPr>
            <a:r>
              <a:rPr sz="625" b="0">
                <a:solidFill>
                  <a:srgbClr val="374151"/>
                </a:solidFill>
                <a:latin typeface="Noto Sans CJK SC"/>
              </a:rPr>
              <a:t>• 处理顺序：x0 = baseRGB</a:t>
            </a:r>
          </a:p>
          <a:p>
            <a:pPr>
              <a:spcAft>
                <a:spcPts val="200"/>
              </a:spcAft>
            </a:pPr>
            <a:r>
              <a:rPr sz="625" b="0">
                <a:solidFill>
                  <a:srgbClr val="374151"/>
                </a:solidFill>
                <a:latin typeface="Noto Sans CJK SC"/>
              </a:rPr>
              <a:t>• g：逐通道增益，x1 = clip(x0·g, 0, 1)</a:t>
            </a:r>
          </a:p>
          <a:p>
            <a:pPr>
              <a:spcAft>
                <a:spcPts val="200"/>
              </a:spcAft>
            </a:pPr>
            <a:r>
              <a:rPr sz="625" b="0">
                <a:solidFill>
                  <a:srgbClr val="374151"/>
                </a:solidFill>
                <a:latin typeface="Noto Sans CJK SC"/>
              </a:rPr>
              <a:t>• WP：取 x1 的 wp 百分位白点 P_wp，x2 = clip(x1/P_wp, 0, 1)</a:t>
            </a:r>
          </a:p>
          <a:p>
            <a:pPr>
              <a:spcAft>
                <a:spcPts val="200"/>
              </a:spcAft>
            </a:pPr>
            <a:r>
              <a:rPr sz="625" b="0">
                <a:solidFill>
                  <a:srgbClr val="374151"/>
                </a:solidFill>
                <a:latin typeface="Noto Sans CJK SC"/>
              </a:rPr>
              <a:t>• gamma：x_gamma = x2^γ；γ&lt;1 会提亮，γ越小越亮</a:t>
            </a:r>
          </a:p>
          <a:p>
            <a:pPr>
              <a:spcAft>
                <a:spcPts val="200"/>
              </a:spcAft>
            </a:pPr>
            <a:r>
              <a:rPr sz="625" b="0">
                <a:solidFill>
                  <a:srgbClr val="374151"/>
                </a:solidFill>
                <a:latin typeface="Noto Sans CJK SC"/>
              </a:rPr>
              <a:t>• studentRGB：wp=99.9, γ=0.9，保留低光外观，作为 DAv2-S RGB 输入</a:t>
            </a:r>
          </a:p>
          <a:p>
            <a:pPr>
              <a:spcAft>
                <a:spcPts val="200"/>
              </a:spcAft>
            </a:pPr>
            <a:r>
              <a:rPr sz="625" b="0">
                <a:solidFill>
                  <a:srgbClr val="374151"/>
                </a:solidFill>
                <a:latin typeface="Noto Sans CJK SC"/>
              </a:rPr>
              <a:t>• teacherRGB：wp=99.5, γ=0.454545，更亮，过 DAv2-L 生成 pseudo GT</a:t>
            </a:r>
          </a:p>
          <a:p>
            <a:pPr>
              <a:spcAft>
                <a:spcPts val="200"/>
              </a:spcAft>
            </a:pPr>
            <a:r>
              <a:rPr sz="625" b="0">
                <a:solidFill>
                  <a:srgbClr val="374151"/>
                </a:solidFill>
                <a:latin typeface="Noto Sans CJK SC"/>
              </a:rPr>
              <a:t>• 两者同用 g=(1.08,0.95,1.10) degreen gains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960120"/>
            <a:ext cx="1389888" cy="69494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1033272"/>
            <a:ext cx="120700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2563EB"/>
                </a:solidFill>
                <a:latin typeface="Noto Sans CJK SC"/>
              </a:rPr>
              <a:t>RAW24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1280160"/>
            <a:ext cx="1207008" cy="31089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官方 .raw
24-bit Bayer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02352" y="804672"/>
            <a:ext cx="155448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877824"/>
            <a:ext cx="13716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0F766E"/>
                </a:solidFill>
                <a:latin typeface="Noto Sans CJK SC"/>
              </a:rPr>
              <a:t>unpack + pack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93792" y="1124712"/>
            <a:ext cx="1371600" cy="4572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归一化 full Bayer
打包 RAW4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713232"/>
            <a:ext cx="1737360" cy="932688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79" y="786384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0F766E"/>
                </a:solidFill>
                <a:latin typeface="Noto Sans CJK SC"/>
              </a:rPr>
              <a:t>studentRGB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79" y="1033271"/>
            <a:ext cx="1554480" cy="5486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dark ISP render
RGB 分支输入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1874519"/>
            <a:ext cx="1737360" cy="932688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79" y="1947672"/>
            <a:ext cx="155448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B45309"/>
                </a:solidFill>
                <a:latin typeface="Noto Sans CJK SC"/>
              </a:rPr>
              <a:t>teacherRGB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79" y="2194560"/>
            <a:ext cx="1554480" cy="5486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bright ISP render
teacher 输入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9136" y="1874519"/>
            <a:ext cx="1444752" cy="93268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80576" y="1947672"/>
            <a:ext cx="1261872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6D28D9"/>
                </a:solidFill>
                <a:latin typeface="Noto Sans CJK SC"/>
              </a:rPr>
              <a:t>DAv2-L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0576" y="2194560"/>
            <a:ext cx="1261872" cy="5486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frozen large
input_size=924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753344" y="1874519"/>
            <a:ext cx="107899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844784" y="1947672"/>
            <a:ext cx="896112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6D28D9"/>
                </a:solidFill>
                <a:latin typeface="Noto Sans CJK SC"/>
              </a:rPr>
              <a:t>pseudo GT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44784" y="2194560"/>
            <a:ext cx="896112" cy="54864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60" b="0">
                <a:solidFill>
                  <a:srgbClr val="374151"/>
                </a:solidFill>
                <a:latin typeface="Noto Sans CJK SC"/>
              </a:rPr>
              <a:t>inverse
relative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791456" y="1307592"/>
            <a:ext cx="310896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656832" y="1225296"/>
            <a:ext cx="292608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455664" y="1426464"/>
            <a:ext cx="493776" cy="91440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686800" y="2340864"/>
            <a:ext cx="402336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0533888" y="2340864"/>
            <a:ext cx="219456" cy="0"/>
          </a:xfrm>
          <a:prstGeom prst="line">
            <a:avLst/>
          </a:prstGeom>
          <a:ln w="1524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401568" y="1737360"/>
            <a:ext cx="2852928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30" b="0">
                <a:solidFill>
                  <a:srgbClr val="6B7280"/>
                </a:solidFill>
                <a:latin typeface="Noto Sans CJK SC"/>
              </a:rPr>
              <a:t>RAW 线可直接用 RAW4；RGB 对照线只吃 studentRGB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401568" y="3127248"/>
            <a:ext cx="196596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raw_ti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144" y="3401568"/>
            <a:ext cx="1892807" cy="1115568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39" name="TextBox 38"/>
          <p:cNvSpPr txBox="1"/>
          <p:nvPr/>
        </p:nvSpPr>
        <p:spPr>
          <a:xfrm>
            <a:off x="3493008" y="3200400"/>
            <a:ext cx="1783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2563EB"/>
                </a:solidFill>
                <a:latin typeface="Noto Sans CJK SC"/>
              </a:rPr>
              <a:t>RAW 可视化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32120" y="3127248"/>
            <a:ext cx="196596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tudent_t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8696" y="3401568"/>
            <a:ext cx="1892807" cy="1115568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42" name="TextBox 41"/>
          <p:cNvSpPr txBox="1"/>
          <p:nvPr/>
        </p:nvSpPr>
        <p:spPr>
          <a:xfrm>
            <a:off x="5623560" y="3200400"/>
            <a:ext cx="1783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0F766E"/>
                </a:solidFill>
                <a:latin typeface="Noto Sans CJK SC"/>
              </a:rPr>
              <a:t>student RGB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62672" y="3127248"/>
            <a:ext cx="196596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teacher_til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3401568"/>
            <a:ext cx="1892807" cy="1115568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45" name="TextBox 44"/>
          <p:cNvSpPr txBox="1"/>
          <p:nvPr/>
        </p:nvSpPr>
        <p:spPr>
          <a:xfrm>
            <a:off x="7754112" y="3200400"/>
            <a:ext cx="1783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B45309"/>
                </a:solidFill>
                <a:latin typeface="Noto Sans CJK SC"/>
              </a:rPr>
              <a:t>teacher RGB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793224" y="3127248"/>
            <a:ext cx="1965960" cy="15361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seudo_til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0" y="3401568"/>
            <a:ext cx="1892807" cy="1115568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48" name="TextBox 47"/>
          <p:cNvSpPr txBox="1"/>
          <p:nvPr/>
        </p:nvSpPr>
        <p:spPr>
          <a:xfrm>
            <a:off x="9884664" y="3200400"/>
            <a:ext cx="1783080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50" b="1">
                <a:solidFill>
                  <a:srgbClr val="6D28D9"/>
                </a:solidFill>
                <a:latin typeface="Noto Sans CJK SC"/>
              </a:rPr>
              <a:t>DAv2-L pseudo GT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401568" y="4828032"/>
            <a:ext cx="8430768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584448" y="4965192"/>
            <a:ext cx="8046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940" b="1">
                <a:solidFill>
                  <a:srgbClr val="374151"/>
                </a:solidFill>
                <a:latin typeface="Noto Sans CJK SC"/>
              </a:rPr>
              <a:t>现成通道直方图裁剪：RAW / student / teacher</a:t>
            </a:r>
          </a:p>
        </p:txBody>
      </p:sp>
      <p:pic>
        <p:nvPicPr>
          <p:cNvPr id="51" name="Picture 50" descr="night-02510_existing_channel_hist_crop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9312" y="5239512"/>
            <a:ext cx="7662672" cy="93268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420624" y="6519672"/>
            <a:ext cx="113568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70" b="0">
                <a:solidFill>
                  <a:srgbClr val="6B7280"/>
                </a:solidFill>
                <a:latin typeface="Noto Sans CJK SC"/>
              </a:rPr>
              <a:t>代码依据：finetune_stf/dataset/rod_raw_rgb.py · rod_raw.py · build_rod_night_teacher_labels.py；素材依据：/mnt/drive/3333_raw/ROD/example_comparisons/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7955279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050" b="1">
                <a:solidFill>
                  <a:srgbClr val="1C232D"/>
                </a:solidFill>
                <a:latin typeface="Noto Sans CJK SC"/>
              </a:rPr>
              <a:t>ROD 结果对比：以 d1 为主指标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256032"/>
            <a:ext cx="2971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Noto Sans CJK SC"/>
              </a:rPr>
              <a:t>阶段性汇报 · 2026-06-09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749808"/>
            <a:ext cx="7882127" cy="5358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3977639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C232D"/>
                </a:solidFill>
                <a:latin typeface="Noto Sans CJK SC"/>
              </a:rPr>
              <a:t>best checkpoint 指标表（d1 为主）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905256"/>
            <a:ext cx="987552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90" b="1">
                <a:solidFill>
                  <a:srgbClr val="2563EB"/>
                </a:solidFill>
                <a:latin typeface="Noto Sans CJK SC"/>
              </a:rPr>
              <a:t>d1 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905256"/>
            <a:ext cx="438912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epoch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10528" y="905256"/>
            <a:ext cx="12984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90" b="0">
                <a:solidFill>
                  <a:srgbClr val="6B7280"/>
                </a:solidFill>
                <a:latin typeface="Noto Sans CJK SC"/>
              </a:rPr>
              <a:t>abs_rel best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1124712"/>
            <a:ext cx="740664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6928" y="1609344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1207008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6B7280"/>
                </a:solidFill>
                <a:latin typeface="Noto Sans CJK SC"/>
              </a:rPr>
              <a:t>init RGB D0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1207008"/>
            <a:ext cx="40233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22576" y="1207008"/>
            <a:ext cx="202996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15" b="0">
                <a:solidFill>
                  <a:srgbClr val="374151"/>
                </a:solidFill>
                <a:latin typeface="Noto Sans CJK SC"/>
              </a:rPr>
              <a:t>official DAv2-S init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1179576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0.7617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1216152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188720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13.5764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2139696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1737360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2563EB"/>
                </a:solidFill>
                <a:latin typeface="Noto Sans CJK SC"/>
              </a:rPr>
              <a:t>0604_0752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3664" y="1737360"/>
            <a:ext cx="40233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2576" y="1737360"/>
            <a:ext cx="202996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15" b="0">
                <a:solidFill>
                  <a:srgbClr val="374151"/>
                </a:solidFill>
                <a:latin typeface="Noto Sans CJK SC"/>
              </a:rPr>
              <a:t>RGB decoder-only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1709928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4" y="1746504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19072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9.1288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2670048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2267712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2563EB"/>
                </a:solidFill>
                <a:latin typeface="Noto Sans CJK SC"/>
              </a:rPr>
              <a:t>0605_0139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3664" y="2267712"/>
            <a:ext cx="40233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2576" y="2267712"/>
            <a:ext cx="202996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15" b="0">
                <a:solidFill>
                  <a:srgbClr val="374151"/>
                </a:solidFill>
                <a:latin typeface="Noto Sans CJK SC"/>
              </a:rPr>
              <a:t>RGB LoRA tap + decoder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2240280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0.8251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2276856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49424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8.3252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3200400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2798064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16A34A"/>
                </a:solidFill>
                <a:latin typeface="Noto Sans CJK SC"/>
              </a:rPr>
              <a:t>0605_0730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83664" y="2798064"/>
            <a:ext cx="40233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RGB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22576" y="2798064"/>
            <a:ext cx="202996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15" b="0">
                <a:solidFill>
                  <a:srgbClr val="374151"/>
                </a:solidFill>
                <a:latin typeface="Noto Sans CJK SC"/>
              </a:rPr>
              <a:t>RGB full backbone LLRD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8304" y="2770632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0.8483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7024" y="2807208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779776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5.8880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3730752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3328416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Noto Sans CJK SC"/>
              </a:rPr>
              <a:t>0606_1348 R1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83664" y="3328416"/>
            <a:ext cx="40233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22576" y="3328416"/>
            <a:ext cx="202996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15" b="0">
                <a:solidFill>
                  <a:srgbClr val="374151"/>
                </a:solidFill>
                <a:latin typeface="Noto Sans CJK SC"/>
              </a:rPr>
              <a:t>RAW-RAM decoder repl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8304" y="3300984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0.8412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7024" y="3337560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310128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5.5653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4261104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3858768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Noto Sans CJK SC"/>
              </a:rPr>
              <a:t>0606_1348 R2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83664" y="3858768"/>
            <a:ext cx="40233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22576" y="3858768"/>
            <a:ext cx="202996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15" b="0">
                <a:solidFill>
                  <a:srgbClr val="374151"/>
                </a:solidFill>
                <a:latin typeface="Noto Sans CJK SC"/>
              </a:rPr>
              <a:t>RAW-RAM LoRA repl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8304" y="3831336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0.8437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7024" y="3867912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840480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6.8383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4791455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" y="4389120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6D28D9"/>
                </a:solidFill>
                <a:latin typeface="Noto Sans CJK SC"/>
              </a:rPr>
              <a:t>0606_0330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83664" y="4389120"/>
            <a:ext cx="40233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22576" y="4389120"/>
            <a:ext cx="202996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15" b="0">
                <a:solidFill>
                  <a:srgbClr val="374151"/>
                </a:solidFill>
                <a:latin typeface="Noto Sans CJK SC"/>
              </a:rPr>
              <a:t>RAW-RAM full backbone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18304" y="4361688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1">
                <a:solidFill>
                  <a:srgbClr val="1C232D"/>
                </a:solidFill>
                <a:latin typeface="Noto Sans CJK SC"/>
              </a:rPr>
              <a:t>0.8700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7024" y="4398264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4370831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1">
                <a:solidFill>
                  <a:srgbClr val="1C232D"/>
                </a:solidFill>
                <a:latin typeface="Noto Sans CJK SC"/>
              </a:rPr>
              <a:t>4.2575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5321807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8368" y="4919472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B45309"/>
                </a:solidFill>
                <a:latin typeface="Noto Sans CJK SC"/>
              </a:rPr>
              <a:t>0608_1444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83664" y="4919472"/>
            <a:ext cx="402336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22576" y="4919472"/>
            <a:ext cx="202996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15" b="0">
                <a:solidFill>
                  <a:srgbClr val="374151"/>
                </a:solidFill>
                <a:latin typeface="Noto Sans CJK SC"/>
              </a:rPr>
              <a:t>RAW-RAM LoRA + bridge/adapter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18304" y="4892040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0.8517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7024" y="4928616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4901183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5.6001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85632" y="749808"/>
            <a:ext cx="3310128" cy="138988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68512" y="905256"/>
            <a:ext cx="2944368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40" b="1">
                <a:solidFill>
                  <a:srgbClr val="6D28D9"/>
                </a:solidFill>
                <a:latin typeface="Noto Sans CJK SC"/>
              </a:rPr>
              <a:t>当前最强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68512" y="1179576"/>
            <a:ext cx="2907792" cy="6400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00" b="0">
                <a:solidFill>
                  <a:srgbClr val="374151"/>
                </a:solidFill>
                <a:latin typeface="Noto Sans CJK SC"/>
              </a:rPr>
              <a:t>0606_0330：RAW-RAM + full backbone
d1=0.8700，abs_rel=4.2575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85632" y="2359152"/>
            <a:ext cx="3310128" cy="1170432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68512" y="2505456"/>
            <a:ext cx="2944368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6A34A"/>
                </a:solidFill>
                <a:latin typeface="Noto Sans CJK SC"/>
              </a:rPr>
              <a:t>RGB 路径上限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8512" y="2770632"/>
            <a:ext cx="2907792" cy="47548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45" b="0">
                <a:solidFill>
                  <a:srgbClr val="374151"/>
                </a:solidFill>
                <a:latin typeface="Noto Sans CJK SC"/>
              </a:rPr>
              <a:t>0605_0730：full backbone
d1=0.8483，高于 RGB decoder / LoRA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85632" y="3694176"/>
            <a:ext cx="3310128" cy="117043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68512" y="3840480"/>
            <a:ext cx="2944368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B45309"/>
                </a:solidFill>
                <a:latin typeface="Noto Sans CJK SC"/>
              </a:rPr>
              <a:t>Bridge / adapter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68512" y="4105656"/>
            <a:ext cx="2907792" cy="47548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35" b="0">
                <a:solidFill>
                  <a:srgbClr val="374151"/>
                </a:solidFill>
                <a:latin typeface="Noto Sans CJK SC"/>
              </a:rPr>
              <a:t>0608_1444：LoRA + bridge/adapter
d1=0.8517，高于两个 0606_1348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85632" y="5065776"/>
            <a:ext cx="3310128" cy="1042415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68512" y="5193792"/>
            <a:ext cx="2944368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Noto Sans CJK SC"/>
              </a:rPr>
              <a:t>读数口径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68512" y="5431536"/>
            <a:ext cx="2907792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374151"/>
                </a:solidFill>
                <a:latin typeface="Noto Sans CJK SC"/>
              </a:rPr>
              <a:t>init 为 RGB D0；RAW-RAM init d1≈0.270，
不作为公共 baseline。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0624" y="6446520"/>
            <a:ext cx="1135684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85" b="0">
                <a:solidFill>
                  <a:srgbClr val="6B7280"/>
                </a:solidFill>
                <a:latin typeface="Noto Sans CJK SC"/>
              </a:rPr>
              <a:t>备注：ROD 指标来自 DAv2-L pseudo inverse-relative label；abs_rel 不是 metric-depth 绝对误差，数值只适合同一 ROD-night eval protocol 内作辅助趋势参考。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182880"/>
            <a:ext cx="8092440" cy="4114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000" b="1">
                <a:solidFill>
                  <a:srgbClr val="1C232D"/>
                </a:solidFill>
                <a:latin typeface="Noto Sans CJK SC"/>
              </a:rPr>
              <a:t>LOD 结果对比：以 d1 为主，silog 为 error 辅助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732520" y="256032"/>
            <a:ext cx="297180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950" b="0">
                <a:solidFill>
                  <a:srgbClr val="6B7280"/>
                </a:solidFill>
                <a:latin typeface="Noto Sans CJK SC"/>
              </a:rPr>
              <a:t>阶段性汇报 · 2026-06-09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749808"/>
            <a:ext cx="7882127" cy="53583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896112"/>
            <a:ext cx="3977639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C232D"/>
                </a:solidFill>
                <a:latin typeface="Noto Sans CJK SC"/>
              </a:rPr>
              <a:t>best checkpoint 指标表（d1 为主）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905256"/>
            <a:ext cx="987552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90" b="1">
                <a:solidFill>
                  <a:srgbClr val="2563EB"/>
                </a:solidFill>
                <a:latin typeface="Noto Sans CJK SC"/>
              </a:rPr>
              <a:t>d1 best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905256"/>
            <a:ext cx="438912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epoch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905256"/>
            <a:ext cx="13716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890" b="0">
                <a:solidFill>
                  <a:srgbClr val="6B7280"/>
                </a:solidFill>
                <a:latin typeface="Noto Sans CJK SC"/>
              </a:rPr>
              <a:t>silog @best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1124712"/>
            <a:ext cx="7406640" cy="0"/>
          </a:xfrm>
          <a:prstGeom prst="line">
            <a:avLst/>
          </a:prstGeom>
          <a:ln w="889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66928" y="1609344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1207008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6B7280"/>
                </a:solidFill>
                <a:latin typeface="Noto Sans CJK SC"/>
              </a:rPr>
              <a:t>init RGB D0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207008"/>
            <a:ext cx="47548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207008"/>
            <a:ext cx="2057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RGB_Dark init, DAv2-S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1179576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0.8245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1216152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-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188720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0.4593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2139696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8368" y="1737360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2563EB"/>
                </a:solidFill>
                <a:latin typeface="Noto Sans CJK SC"/>
              </a:rPr>
              <a:t>0608_1509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1737360"/>
            <a:ext cx="47548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1737360"/>
            <a:ext cx="2057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RGB_Dark decoder 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1709928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0.8351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07024" y="1746504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719072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0.6062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2670048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2267712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16A34A"/>
                </a:solidFill>
                <a:latin typeface="Noto Sans CJK SC"/>
              </a:rPr>
              <a:t>0608_2246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2267712"/>
            <a:ext cx="47548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RGB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2267712"/>
            <a:ext cx="2057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RGB_Dark LoRA tap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8304" y="2240280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0.8555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2276856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e22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249424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0.5851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66928" y="3200400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2798064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Noto Sans CJK SC"/>
              </a:rPr>
              <a:t>0608_1739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19" y="2798064"/>
            <a:ext cx="47548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RAW_D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2798064"/>
            <a:ext cx="2057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RAW_Dark RGB16 decoder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18304" y="2770632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0.8299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07024" y="2807208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e36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2779776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0.5397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3730752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3328416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0F766E"/>
                </a:solidFill>
                <a:latin typeface="Noto Sans CJK SC"/>
              </a:rPr>
              <a:t>0608_2026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74519" y="3328416"/>
            <a:ext cx="47548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RAW_D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3328416"/>
            <a:ext cx="2057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RAW_Dark RGB16 LoRA tap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18304" y="3300984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0.8451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7024" y="3337560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e37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3310128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0.5523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66928" y="4261104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58368" y="3858768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6D28D9"/>
                </a:solidFill>
                <a:latin typeface="Noto Sans CJK SC"/>
              </a:rPr>
              <a:t>0608_2059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74519" y="3858768"/>
            <a:ext cx="47548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RAW_D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77440" y="3858768"/>
            <a:ext cx="2057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RAW_Dark RGB16 LoRA + bridge/FA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18304" y="3831336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0.8510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7024" y="3867912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3840480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0.5690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66928" y="4791455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58368" y="4389120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B45309"/>
                </a:solidFill>
                <a:latin typeface="Noto Sans CJK SC"/>
              </a:rPr>
              <a:t>0609_0044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874519" y="4389120"/>
            <a:ext cx="47548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RAW_N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389120"/>
            <a:ext cx="2057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RAW_Normal RGB16 LoRA tap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718304" y="4361688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0">
                <a:solidFill>
                  <a:srgbClr val="1C232D"/>
                </a:solidFill>
                <a:latin typeface="Noto Sans CJK SC"/>
              </a:rPr>
              <a:t>0.8990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07024" y="4398264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e36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4370831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0">
                <a:solidFill>
                  <a:srgbClr val="374151"/>
                </a:solidFill>
                <a:latin typeface="Noto Sans CJK SC"/>
              </a:rPr>
              <a:t>0.4912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566928" y="5321807"/>
            <a:ext cx="7406640" cy="0"/>
          </a:xfrm>
          <a:prstGeom prst="line">
            <a:avLst/>
          </a:prstGeom>
          <a:ln w="5715">
            <a:solidFill>
              <a:srgbClr val="F1F5F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8368" y="4919472"/>
            <a:ext cx="118872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60" b="1">
                <a:solidFill>
                  <a:srgbClr val="6D28D9"/>
                </a:solidFill>
                <a:latin typeface="Noto Sans CJK SC"/>
              </a:rPr>
              <a:t>0609_0117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874519" y="4919472"/>
            <a:ext cx="47548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90" b="0">
                <a:solidFill>
                  <a:srgbClr val="6B7280"/>
                </a:solidFill>
                <a:latin typeface="Noto Sans CJK SC"/>
              </a:rPr>
              <a:t>RAW_N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77440" y="4919472"/>
            <a:ext cx="20574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RAW_Normal RGB16 LoRA + bridge/FA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718304" y="4892040"/>
            <a:ext cx="1133856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280" b="1">
                <a:solidFill>
                  <a:srgbClr val="1C232D"/>
                </a:solidFill>
                <a:latin typeface="Noto Sans CJK SC"/>
              </a:rPr>
              <a:t>0.8997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07024" y="4928616"/>
            <a:ext cx="384048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770" b="0">
                <a:solidFill>
                  <a:srgbClr val="6B7280"/>
                </a:solidFill>
                <a:latin typeface="Noto Sans CJK SC"/>
              </a:rPr>
              <a:t>e34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92240" y="4901183"/>
            <a:ext cx="1316736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r"/>
            <a:r>
              <a:rPr sz="1070" b="1">
                <a:solidFill>
                  <a:srgbClr val="1C232D"/>
                </a:solidFill>
                <a:latin typeface="Noto Sans CJK SC"/>
              </a:rPr>
              <a:t>0.5417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85632" y="749808"/>
            <a:ext cx="3310128" cy="1389888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68512" y="905256"/>
            <a:ext cx="2944368" cy="21945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40" b="1">
                <a:solidFill>
                  <a:srgbClr val="6D28D9"/>
                </a:solidFill>
                <a:latin typeface="Noto Sans CJK SC"/>
              </a:rPr>
              <a:t>扩展表最高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68512" y="1179576"/>
            <a:ext cx="2907792" cy="6400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75" b="0">
                <a:solidFill>
                  <a:srgbClr val="374151"/>
                </a:solidFill>
                <a:latin typeface="Noto Sans CJK SC"/>
              </a:rPr>
              <a:t>0609_0117：RAW_Normal + LoRA + bridge/FA
d1=0.8997，silog=0.5417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485632" y="2359152"/>
            <a:ext cx="3310128" cy="1170432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68512" y="2505456"/>
            <a:ext cx="2944368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16A34A"/>
                </a:solidFill>
                <a:latin typeface="Noto Sans CJK SC"/>
              </a:rPr>
              <a:t>dark-input best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68512" y="2770632"/>
            <a:ext cx="2907792" cy="47548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25" b="0">
                <a:solidFill>
                  <a:srgbClr val="374151"/>
                </a:solidFill>
                <a:latin typeface="Noto Sans CJK SC"/>
              </a:rPr>
              <a:t>0608_2246：RGB_Dark LoRA tap
d1=0.8555，高于 RAW_Dark follow-up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485632" y="3694176"/>
            <a:ext cx="3310128" cy="1170432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68512" y="3840480"/>
            <a:ext cx="2944368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30" b="1">
                <a:solidFill>
                  <a:srgbClr val="B45309"/>
                </a:solidFill>
                <a:latin typeface="Noto Sans CJK SC"/>
              </a:rPr>
              <a:t>RAW_Normal 影响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68512" y="4105656"/>
            <a:ext cx="2907792" cy="47548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5" b="0">
                <a:solidFill>
                  <a:srgbClr val="374151"/>
                </a:solidFill>
                <a:latin typeface="Noto Sans CJK SC"/>
              </a:rPr>
              <a:t>0609 RAW_Normal 明显高于 matched RAW_Dark；
这是输入源 ablation，不替代 dark-input 结论。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485632" y="5065776"/>
            <a:ext cx="3310128" cy="1042415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889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668512" y="5193792"/>
            <a:ext cx="2944368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563EB"/>
                </a:solidFill>
                <a:latin typeface="Noto Sans CJK SC"/>
              </a:rPr>
              <a:t>读数口径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668512" y="5431536"/>
            <a:ext cx="2907792" cy="438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700" b="0">
                <a:solidFill>
                  <a:srgbClr val="374151"/>
                </a:solidFill>
                <a:latin typeface="Noto Sans CJK SC"/>
              </a:rPr>
              <a:t>d1 越高越好；silog 越低越好。
silog 与 best d1 取同一 epoch。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20624" y="6446520"/>
            <a:ext cx="1135684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685" b="0">
                <a:solidFill>
                  <a:srgbClr val="6B7280"/>
                </a:solidFill>
                <a:latin typeface="Noto Sans CJK SC"/>
              </a:rPr>
              <a:t>备注：LOD 指标来自 DAv2-L pseudo inverse-relative label；本页不展示 abs_rel，使用 silog/d1 作为同一 True LOD eval protocol 内的 proxy 口径。RAW init d1≈0.370，不是 RGB init 的公共 baseline。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